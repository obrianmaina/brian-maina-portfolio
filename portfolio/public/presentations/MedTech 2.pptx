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9" r:id="rId2"/>
    <p:sldId id="261" r:id="rId3"/>
    <p:sldId id="262" r:id="rId4"/>
    <p:sldId id="265" r:id="rId5"/>
    <p:sldId id="256" r:id="rId6"/>
    <p:sldId id="266" r:id="rId7"/>
    <p:sldId id="257" r:id="rId8"/>
    <p:sldId id="267" r:id="rId9"/>
    <p:sldId id="258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0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>
        <p:scale>
          <a:sx n="33" d="100"/>
          <a:sy n="33" d="100"/>
        </p:scale>
        <p:origin x="2688" y="1608"/>
      </p:cViewPr>
      <p:guideLst>
        <p:guide pos="3840"/>
        <p:guide orient="horz" pos="20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3DC9A9-E5C2-468D-9C1E-BC9DDCC481F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9193F1-5FC5-4D3D-8209-17E5B701A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040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193F1-5FC5-4D3D-8209-17E5B701A1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519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193F1-5FC5-4D3D-8209-17E5B701A14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980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193F1-5FC5-4D3D-8209-17E5B701A14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372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97EC4-83CA-DA8C-F935-31885A72D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9122FD-1270-8E37-9443-75186E9ABE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DFE82B-B3D1-D102-F732-63FF86E0B1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2CF2D-7214-6BC0-1B6E-E1D23243B3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193F1-5FC5-4D3D-8209-17E5B701A14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8160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193F1-5FC5-4D3D-8209-17E5B701A14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6404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A6257-B87B-C6A0-0ABF-DB1160FF4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DD6B59-4681-E318-E9DD-F0DDCEB761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01846-8C0D-62A1-E562-994F3822D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430D7-6469-BCB7-A657-BBE25479AF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193F1-5FC5-4D3D-8209-17E5B701A14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867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193F1-5FC5-4D3D-8209-17E5B701A14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5292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C2937-8D39-2D17-3C7B-1631CA489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26DDCF-0EEE-918E-07B6-C0DBA9C982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BDC85E-E792-7DAB-2F48-3F5395D06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FFA18-EFC4-092C-7E63-2488055760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193F1-5FC5-4D3D-8209-17E5B701A14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949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193F1-5FC5-4D3D-8209-17E5B701A14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467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193F1-5FC5-4D3D-8209-17E5B701A14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644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A306D-DD4A-4218-A032-3F6C11C55F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2F3374-D012-46E7-BD78-CCD3ED92C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C953D-3DB8-4ECF-B6D7-8A5C8AFF2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7D4B-6B4B-4078-A998-10FB446F38A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3F100-3C8E-4BEE-B920-732F2EF0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26A0D-A405-41A6-A30D-9177E0ABE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F4167-F44B-4CBB-A9C5-696ACDC76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24678-64EE-471C-B553-72D0B1244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4196E-C600-4181-ACE8-FB2770601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06AED-9B68-4C89-86EE-0BA2D3376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7D4B-6B4B-4078-A998-10FB446F38A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589FE-AA3C-4426-B0F6-6F8E37912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8860B-B0A0-4690-8520-ABC70F26C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F4167-F44B-4CBB-A9C5-696ACDC76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542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FF908-CA84-47B9-AF3F-B01654253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343C5-EFBC-486C-89C8-D9A134960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54DAC-0375-4E99-9C48-AE6CDFFF8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7D4B-6B4B-4078-A998-10FB446F38A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D040D-ADD2-4828-9650-3EBE62701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FFFF5-BDED-485A-AE38-7240672E8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F4167-F44B-4CBB-A9C5-696ACDC76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454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51D42-3EED-430A-8037-97135158B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02A44-E11B-4D9D-8318-8C11D6770B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28C89A-F66D-4F63-9953-F8C9225FF6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0E92B-885F-43C6-8553-9406027BD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7D4B-6B4B-4078-A998-10FB446F38A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C4EEA-EE7B-4BF3-B0DB-CD426D281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1EBD45-9F09-4779-94C3-693357228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F4167-F44B-4CBB-A9C5-696ACDC76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041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CE340-91E4-46E3-A5DB-74F72601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E071C-8D13-46C2-A0D9-0A56F5154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00267-D51F-495E-B83F-59E70BD37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4AB66D-987D-468F-BD7C-0D5214D42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DD33E-6399-434E-BF8B-13EF2A2FC5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DD121D-10F4-4771-8E7F-59F0F8B7F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7D4B-6B4B-4078-A998-10FB446F38A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B1E6D9-4997-41DC-8476-A295260EE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972735-4051-44EB-8FC9-14A0C1AE0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F4167-F44B-4CBB-A9C5-696ACDC76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458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F08EE-92E7-417C-8A96-8B7E0A489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263DE0-72BC-4AC2-8E12-8DC212BC5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7D4B-6B4B-4078-A998-10FB446F38A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D027FD-061A-4699-9C0B-1058BC3E6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37653D-CC0E-43FD-A947-DD160DC64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F4167-F44B-4CBB-A9C5-696ACDC76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26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00D10A-3F76-483C-8E29-B9600269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7D4B-6B4B-4078-A998-10FB446F38A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6DBA4B-49FA-459F-9CA4-10A545F73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37BDA-662C-4FA5-8F8C-144A7BAF6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F4167-F44B-4CBB-A9C5-696ACDC76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419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253B5-DF96-4ED2-9B0B-54B3D9D5A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1F4FD-F319-4F12-8631-21E37A11B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238EC8-FB11-4F99-BC3C-F022D20EBA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70ED43-0682-41AA-AFFB-F8CD76F5D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7D4B-6B4B-4078-A998-10FB446F38A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F8D909-FB01-4E5C-B58B-A0D26A30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C13E38-F17D-4930-8EAC-B5E3ACD4D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F4167-F44B-4CBB-A9C5-696ACDC76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57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A7EB9-3AB9-4121-8093-00542D7BD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5EA122-0AD0-4236-9AD4-E0B851A691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6BE11-C6A0-429B-8240-D8015EF394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0A7F8-8E4C-42ED-979D-983D905B5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7D4B-6B4B-4078-A998-10FB446F38A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971F78-C89F-4DEA-BE4D-63557BB3A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6D2C3A-DAD3-4220-87E6-BF340F6A6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F4167-F44B-4CBB-A9C5-696ACDC76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342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EEF16-5B96-42E4-B90E-45DE8DC25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30D1D-0ADB-4A2C-9CE2-AE5EA1740B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DD450-3617-4DC5-A3DC-B69287B4D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7D4B-6B4B-4078-A998-10FB446F38A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6ECEA-3F91-485B-9183-734DF6B1E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855D9-3A60-4DC1-B93B-2AFB4ECC3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F4167-F44B-4CBB-A9C5-696ACDC76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48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9528B6-68E1-4582-8D72-AF66D8E3B2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F74E88-25B4-468A-9CF1-73003D0DB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A7013-926F-4ED4-830D-FAB8FAD4C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7D4B-6B4B-4078-A998-10FB446F38A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138F9-28B0-4C8D-B4A8-4BD8F2AA0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00F50-511E-48FE-927F-2C02C554A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F4167-F44B-4CBB-A9C5-696ACDC76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048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874D9EC-4B73-420C-B7E9-D97CA92D92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6587" y="688974"/>
            <a:ext cx="5459413" cy="547947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4F00BEF-C817-4F4A-8DB1-2644B07B1B1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350302" y="688975"/>
            <a:ext cx="8205111" cy="54800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910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8966F0-3E0B-4759-A4A2-1D6DBB4C8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E15C1D-8BD8-42A6-BAF2-294BC0D9C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66984-964F-4E38-B2D5-A0DFAB7704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4F7D4B-6B4B-4078-A998-10FB446F38A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2A815-BCFC-4B89-B0BA-ABFD97820D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975F3-7257-4639-8194-347DC45DBC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2F4167-F44B-4CBB-A9C5-696ACDC76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78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B4F375C4-9AF9-4B66-920B-22963781A150}"/>
              </a:ext>
            </a:extLst>
          </p:cNvPr>
          <p:cNvSpPr/>
          <p:nvPr/>
        </p:nvSpPr>
        <p:spPr>
          <a:xfrm>
            <a:off x="1491856" y="688671"/>
            <a:ext cx="8258175" cy="448309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9650E2A-9570-4AAD-9036-9F71EA11F27B}"/>
              </a:ext>
            </a:extLst>
          </p:cNvPr>
          <p:cNvSpPr/>
          <p:nvPr/>
        </p:nvSpPr>
        <p:spPr>
          <a:xfrm>
            <a:off x="1398070" y="4985631"/>
            <a:ext cx="864387" cy="46924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066CAFC-F455-498A-B337-0D971E1155BC}"/>
              </a:ext>
            </a:extLst>
          </p:cNvPr>
          <p:cNvSpPr/>
          <p:nvPr/>
        </p:nvSpPr>
        <p:spPr>
          <a:xfrm>
            <a:off x="1325036" y="4956399"/>
            <a:ext cx="396712" cy="215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B8CA331-56C9-4262-A451-C35959B48D9D}"/>
              </a:ext>
            </a:extLst>
          </p:cNvPr>
          <p:cNvSpPr/>
          <p:nvPr/>
        </p:nvSpPr>
        <p:spPr>
          <a:xfrm>
            <a:off x="1275207" y="4860499"/>
            <a:ext cx="396712" cy="2153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7254220-1756-436A-A303-290B451353FD}"/>
              </a:ext>
            </a:extLst>
          </p:cNvPr>
          <p:cNvSpPr txBox="1"/>
          <p:nvPr/>
        </p:nvSpPr>
        <p:spPr>
          <a:xfrm>
            <a:off x="5734050" y="5338332"/>
            <a:ext cx="63517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B0F0"/>
                </a:solidFill>
                <a:latin typeface="Mada Black" pitchFamily="2"/>
              </a:rPr>
              <a:t>Software Solutions</a:t>
            </a:r>
          </a:p>
        </p:txBody>
      </p:sp>
    </p:spTree>
    <p:extLst>
      <p:ext uri="{BB962C8B-B14F-4D97-AF65-F5344CB8AC3E}">
        <p14:creationId xmlns:p14="http://schemas.microsoft.com/office/powerpoint/2010/main" val="284289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99650E2A-9570-4AAD-9036-9F71EA11F27B}"/>
              </a:ext>
            </a:extLst>
          </p:cNvPr>
          <p:cNvSpPr/>
          <p:nvPr/>
        </p:nvSpPr>
        <p:spPr>
          <a:xfrm>
            <a:off x="1586889" y="1675659"/>
            <a:ext cx="864387" cy="46924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066CAFC-F455-498A-B337-0D971E1155BC}"/>
              </a:ext>
            </a:extLst>
          </p:cNvPr>
          <p:cNvSpPr/>
          <p:nvPr/>
        </p:nvSpPr>
        <p:spPr>
          <a:xfrm>
            <a:off x="1513855" y="1646427"/>
            <a:ext cx="396712" cy="215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B8CA331-56C9-4262-A451-C35959B48D9D}"/>
              </a:ext>
            </a:extLst>
          </p:cNvPr>
          <p:cNvSpPr/>
          <p:nvPr/>
        </p:nvSpPr>
        <p:spPr>
          <a:xfrm>
            <a:off x="1464026" y="1550527"/>
            <a:ext cx="396712" cy="2153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7254220-1756-436A-A303-290B451353FD}"/>
              </a:ext>
            </a:extLst>
          </p:cNvPr>
          <p:cNvSpPr txBox="1"/>
          <p:nvPr/>
        </p:nvSpPr>
        <p:spPr>
          <a:xfrm>
            <a:off x="2200813" y="1910283"/>
            <a:ext cx="9695911" cy="2846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ada Black" pitchFamily="2"/>
              </a:rPr>
              <a:t> We are building </a:t>
            </a:r>
          </a:p>
          <a:p>
            <a:r>
              <a:rPr lang="en-US" sz="11500" b="1" dirty="0">
                <a:solidFill>
                  <a:srgbClr val="00B0F0"/>
                </a:solidFill>
                <a:latin typeface="Mada Black" pitchFamily="2"/>
              </a:rPr>
              <a:t>   Solutions</a:t>
            </a:r>
          </a:p>
          <a:p>
            <a:r>
              <a:rPr lang="en-US" sz="3200" b="1" dirty="0">
                <a:latin typeface="Mada Black" pitchFamily="2"/>
              </a:rPr>
              <a:t>                                              that matter to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DDD994-D762-6F7D-2982-AFD406E933E7}"/>
              </a:ext>
            </a:extLst>
          </p:cNvPr>
          <p:cNvSpPr txBox="1"/>
          <p:nvPr/>
        </p:nvSpPr>
        <p:spPr>
          <a:xfrm>
            <a:off x="-6373775" y="1550527"/>
            <a:ext cx="5669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Mada" pitchFamily="2"/>
              </a:rPr>
              <a:t>AI is rapidly moving from a futuristic concept to a practical tool in healthcare, and its impact is set to accelerate significantly.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0A6235-53F3-4535-5631-FDE057DA391D}"/>
              </a:ext>
            </a:extLst>
          </p:cNvPr>
          <p:cNvSpPr txBox="1"/>
          <p:nvPr/>
        </p:nvSpPr>
        <p:spPr>
          <a:xfrm>
            <a:off x="-8183525" y="3429000"/>
            <a:ext cx="5669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Mada" pitchFamily="2"/>
              </a:rPr>
              <a:t>"Tomorrow's" medicine will see AI deeply integrated into three core areas: diagnostics, treatment, and administration.</a:t>
            </a:r>
          </a:p>
        </p:txBody>
      </p:sp>
    </p:spTree>
    <p:extLst>
      <p:ext uri="{BB962C8B-B14F-4D97-AF65-F5344CB8AC3E}">
        <p14:creationId xmlns:p14="http://schemas.microsoft.com/office/powerpoint/2010/main" val="3207293588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99650E2A-9570-4AAD-9036-9F71EA11F27B}"/>
              </a:ext>
            </a:extLst>
          </p:cNvPr>
          <p:cNvSpPr/>
          <p:nvPr/>
        </p:nvSpPr>
        <p:spPr>
          <a:xfrm>
            <a:off x="1586889" y="818409"/>
            <a:ext cx="864387" cy="46924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066CAFC-F455-498A-B337-0D971E1155BC}"/>
              </a:ext>
            </a:extLst>
          </p:cNvPr>
          <p:cNvSpPr/>
          <p:nvPr/>
        </p:nvSpPr>
        <p:spPr>
          <a:xfrm>
            <a:off x="1513855" y="789177"/>
            <a:ext cx="396712" cy="215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B8CA331-56C9-4262-A451-C35959B48D9D}"/>
              </a:ext>
            </a:extLst>
          </p:cNvPr>
          <p:cNvSpPr/>
          <p:nvPr/>
        </p:nvSpPr>
        <p:spPr>
          <a:xfrm>
            <a:off x="1464026" y="693277"/>
            <a:ext cx="396712" cy="2153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7254220-1756-436A-A303-290B451353FD}"/>
              </a:ext>
            </a:extLst>
          </p:cNvPr>
          <p:cNvSpPr txBox="1"/>
          <p:nvPr/>
        </p:nvSpPr>
        <p:spPr>
          <a:xfrm>
            <a:off x="2524310" y="803116"/>
            <a:ext cx="4019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ada Black" pitchFamily="2"/>
              </a:rPr>
              <a:t>Tomorrow Medicine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FCC25E-AFA9-4BE4-ADB1-C2E835179033}"/>
              </a:ext>
            </a:extLst>
          </p:cNvPr>
          <p:cNvSpPr/>
          <p:nvPr/>
        </p:nvSpPr>
        <p:spPr>
          <a:xfrm flipH="1">
            <a:off x="8253453" y="348933"/>
            <a:ext cx="5728633" cy="6003924"/>
          </a:xfrm>
          <a:prstGeom prst="rect">
            <a:avLst/>
          </a:prstGeom>
          <a:blipFill dpi="0" rotWithShape="0">
            <a:blip r:embed="rId3"/>
            <a:srcRect/>
            <a:stretch>
              <a:fillRect l="-46645" r="-1040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24614F-00B8-4DA1-AA14-A86C416C21EB}"/>
              </a:ext>
            </a:extLst>
          </p:cNvPr>
          <p:cNvSpPr/>
          <p:nvPr/>
        </p:nvSpPr>
        <p:spPr>
          <a:xfrm>
            <a:off x="-10300648" y="-133350"/>
            <a:ext cx="10300648" cy="33718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642B69-38A1-4943-B09C-EFF28CA46665}"/>
              </a:ext>
            </a:extLst>
          </p:cNvPr>
          <p:cNvSpPr/>
          <p:nvPr/>
        </p:nvSpPr>
        <p:spPr>
          <a:xfrm>
            <a:off x="-12377098" y="3238500"/>
            <a:ext cx="10300648" cy="3619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31B6FD-F6D4-159C-B7FA-BE36A7755258}"/>
              </a:ext>
            </a:extLst>
          </p:cNvPr>
          <p:cNvSpPr txBox="1"/>
          <p:nvPr/>
        </p:nvSpPr>
        <p:spPr>
          <a:xfrm>
            <a:off x="1369517" y="1552575"/>
            <a:ext cx="5669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Mada" pitchFamily="2"/>
              </a:rPr>
              <a:t>AI is rapidly moving from a futuristic concept to a practical tool in healthcare, and its impact is set to accelerate significantly.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A38061-63E8-0C19-BBF7-E266B9BE2EA2}"/>
              </a:ext>
            </a:extLst>
          </p:cNvPr>
          <p:cNvSpPr txBox="1"/>
          <p:nvPr/>
        </p:nvSpPr>
        <p:spPr>
          <a:xfrm>
            <a:off x="1369517" y="3429000"/>
            <a:ext cx="5669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Mada" pitchFamily="2"/>
              </a:rPr>
              <a:t>"Tomorrow's" medicine will see AI deeply integrated into three core areas: diagnostics, treatment, and administration.</a:t>
            </a:r>
          </a:p>
        </p:txBody>
      </p:sp>
    </p:spTree>
    <p:extLst>
      <p:ext uri="{BB962C8B-B14F-4D97-AF65-F5344CB8AC3E}">
        <p14:creationId xmlns:p14="http://schemas.microsoft.com/office/powerpoint/2010/main" val="1575952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08EB23-7F23-72CA-31F0-86083332C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F7ECE5-ADF4-26BE-74EF-C81AEF58076D}"/>
              </a:ext>
            </a:extLst>
          </p:cNvPr>
          <p:cNvSpPr/>
          <p:nvPr/>
        </p:nvSpPr>
        <p:spPr>
          <a:xfrm>
            <a:off x="12420600" y="-133350"/>
            <a:ext cx="10300648" cy="33718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60D45B-EB6F-7BA3-EB72-02A2D834784C}"/>
              </a:ext>
            </a:extLst>
          </p:cNvPr>
          <p:cNvSpPr/>
          <p:nvPr/>
        </p:nvSpPr>
        <p:spPr>
          <a:xfrm>
            <a:off x="12192000" y="3238500"/>
            <a:ext cx="10300648" cy="3619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261B8E-0EAC-FB5E-8F9B-661237C8FDD9}"/>
              </a:ext>
            </a:extLst>
          </p:cNvPr>
          <p:cNvSpPr/>
          <p:nvPr/>
        </p:nvSpPr>
        <p:spPr>
          <a:xfrm>
            <a:off x="1491856" y="688671"/>
            <a:ext cx="8258175" cy="448309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C83421-1A83-E569-92C3-FE66804C277C}"/>
              </a:ext>
            </a:extLst>
          </p:cNvPr>
          <p:cNvSpPr/>
          <p:nvPr/>
        </p:nvSpPr>
        <p:spPr>
          <a:xfrm>
            <a:off x="1398070" y="4985631"/>
            <a:ext cx="864387" cy="46924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234C2E-A8D0-83E0-D66B-D8EEDDB5A612}"/>
              </a:ext>
            </a:extLst>
          </p:cNvPr>
          <p:cNvSpPr/>
          <p:nvPr/>
        </p:nvSpPr>
        <p:spPr>
          <a:xfrm>
            <a:off x="1325036" y="4956399"/>
            <a:ext cx="396712" cy="215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06707B-FA28-0209-3A70-A355314F33ED}"/>
              </a:ext>
            </a:extLst>
          </p:cNvPr>
          <p:cNvSpPr/>
          <p:nvPr/>
        </p:nvSpPr>
        <p:spPr>
          <a:xfrm>
            <a:off x="1275207" y="4860499"/>
            <a:ext cx="396712" cy="2153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4F82E0-958E-BB0D-A691-0F795A898EF9}"/>
              </a:ext>
            </a:extLst>
          </p:cNvPr>
          <p:cNvSpPr txBox="1"/>
          <p:nvPr/>
        </p:nvSpPr>
        <p:spPr>
          <a:xfrm>
            <a:off x="5202091" y="5338332"/>
            <a:ext cx="55918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B0F0"/>
                </a:solidFill>
                <a:latin typeface="Mada Black" pitchFamily="2"/>
              </a:rPr>
              <a:t>Med-Tech Solutions</a:t>
            </a:r>
          </a:p>
        </p:txBody>
      </p:sp>
    </p:spTree>
    <p:extLst>
      <p:ext uri="{BB962C8B-B14F-4D97-AF65-F5344CB8AC3E}">
        <p14:creationId xmlns:p14="http://schemas.microsoft.com/office/powerpoint/2010/main" val="15928524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312EA4-71BD-24AF-02BB-61CD1B7755AF}"/>
              </a:ext>
            </a:extLst>
          </p:cNvPr>
          <p:cNvSpPr/>
          <p:nvPr/>
        </p:nvSpPr>
        <p:spPr>
          <a:xfrm>
            <a:off x="6953368" y="5958225"/>
            <a:ext cx="864387" cy="46924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25EA7D-ECE2-9FB0-92AF-A4FA49BC80DF}"/>
              </a:ext>
            </a:extLst>
          </p:cNvPr>
          <p:cNvSpPr/>
          <p:nvPr/>
        </p:nvSpPr>
        <p:spPr>
          <a:xfrm>
            <a:off x="6880334" y="5928993"/>
            <a:ext cx="396712" cy="215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31AD97-4EA7-ADE4-0C82-A28AD1A6F7DC}"/>
              </a:ext>
            </a:extLst>
          </p:cNvPr>
          <p:cNvSpPr/>
          <p:nvPr/>
        </p:nvSpPr>
        <p:spPr>
          <a:xfrm>
            <a:off x="6830505" y="5833093"/>
            <a:ext cx="396712" cy="2153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1599B9-F8EE-BD6A-9E9D-002435592CE0}"/>
              </a:ext>
            </a:extLst>
          </p:cNvPr>
          <p:cNvSpPr txBox="1"/>
          <p:nvPr/>
        </p:nvSpPr>
        <p:spPr>
          <a:xfrm>
            <a:off x="7890789" y="5942932"/>
            <a:ext cx="4019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ada Black" pitchFamily="2"/>
              </a:rPr>
              <a:t>Tomorrow Medicine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013E6D8-D77D-1CB9-8FC2-747208C3C2F3}"/>
              </a:ext>
            </a:extLst>
          </p:cNvPr>
          <p:cNvGrpSpPr/>
          <p:nvPr/>
        </p:nvGrpSpPr>
        <p:grpSpPr>
          <a:xfrm>
            <a:off x="4269472" y="712760"/>
            <a:ext cx="4609320" cy="4559540"/>
            <a:chOff x="4269472" y="712760"/>
            <a:chExt cx="4609320" cy="455954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A54C163-E54B-AD54-6016-17032F0E50A9}"/>
                </a:ext>
              </a:extLst>
            </p:cNvPr>
            <p:cNvSpPr/>
            <p:nvPr/>
          </p:nvSpPr>
          <p:spPr>
            <a:xfrm>
              <a:off x="4269472" y="712760"/>
              <a:ext cx="4606122" cy="455954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0F6C1E3-B399-472A-8008-C1ACCC91FF9E}"/>
                </a:ext>
              </a:extLst>
            </p:cNvPr>
            <p:cNvSpPr/>
            <p:nvPr/>
          </p:nvSpPr>
          <p:spPr>
            <a:xfrm>
              <a:off x="4269472" y="712760"/>
              <a:ext cx="4606122" cy="4559540"/>
            </a:xfrm>
            <a:prstGeom prst="rect">
              <a:avLst/>
            </a:prstGeom>
            <a:blipFill dpi="0" rotWithShape="1">
              <a:blip r:embed="rId3"/>
              <a:srcRect/>
              <a:tile tx="-508000" ty="1270000" sx="50000" sy="5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F614946-BD6C-AD43-8448-EC379BB7C440}"/>
                </a:ext>
              </a:extLst>
            </p:cNvPr>
            <p:cNvSpPr/>
            <p:nvPr/>
          </p:nvSpPr>
          <p:spPr>
            <a:xfrm>
              <a:off x="4269472" y="712760"/>
              <a:ext cx="4609320" cy="4559540"/>
            </a:xfrm>
            <a:prstGeom prst="rect">
              <a:avLst/>
            </a:prstGeom>
            <a:gradFill>
              <a:gsLst>
                <a:gs pos="43000">
                  <a:srgbClr val="00B0F0"/>
                </a:gs>
                <a:gs pos="77000">
                  <a:srgbClr val="00B0F0">
                    <a:alpha val="54000"/>
                  </a:srgbClr>
                </a:gs>
                <a:gs pos="91000">
                  <a:srgbClr val="00B0F0">
                    <a:alpha val="28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4D16131-9148-56EE-4E4A-B950A3910FDA}"/>
                </a:ext>
              </a:extLst>
            </p:cNvPr>
            <p:cNvSpPr txBox="1"/>
            <p:nvPr/>
          </p:nvSpPr>
          <p:spPr>
            <a:xfrm>
              <a:off x="4468082" y="809545"/>
              <a:ext cx="4104275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The one-size-fits-all approach to medicine is ending. AI is the engine driving personalized medicine by: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11EE8F3-1F83-047E-6402-A4EB082668D3}"/>
                </a:ext>
              </a:extLst>
            </p:cNvPr>
            <p:cNvSpPr txBox="1"/>
            <p:nvPr/>
          </p:nvSpPr>
          <p:spPr>
            <a:xfrm>
              <a:off x="4468082" y="1732875"/>
              <a:ext cx="4104275" cy="880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b="1" dirty="0"/>
                <a:t>Tailoring Therapies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b="1" dirty="0"/>
                <a:t>Accelerating  Drug Discovery</a:t>
              </a:r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5D9A87F-7D7D-7DE5-3168-8F72F9DA9348}"/>
              </a:ext>
            </a:extLst>
          </p:cNvPr>
          <p:cNvGrpSpPr/>
          <p:nvPr/>
        </p:nvGrpSpPr>
        <p:grpSpPr>
          <a:xfrm>
            <a:off x="9724029" y="675564"/>
            <a:ext cx="1869744" cy="1820269"/>
            <a:chOff x="9724029" y="675564"/>
            <a:chExt cx="1869744" cy="1820269"/>
          </a:xfrm>
          <a:solidFill>
            <a:srgbClr val="FFC000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5317F07-865A-12ED-2F10-3EC25B1DE1E8}"/>
                </a:ext>
              </a:extLst>
            </p:cNvPr>
            <p:cNvSpPr/>
            <p:nvPr/>
          </p:nvSpPr>
          <p:spPr>
            <a:xfrm>
              <a:off x="9724030" y="675564"/>
              <a:ext cx="1869743" cy="182026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9F3FF4A-09E4-6CE6-819B-002F141ABD0E}"/>
                </a:ext>
              </a:extLst>
            </p:cNvPr>
            <p:cNvSpPr txBox="1"/>
            <p:nvPr/>
          </p:nvSpPr>
          <p:spPr>
            <a:xfrm>
              <a:off x="9724029" y="802700"/>
              <a:ext cx="1813919" cy="1107996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n-US" sz="6600" b="1" dirty="0">
                  <a:latin typeface="Mada" pitchFamily="2"/>
                </a:rPr>
                <a:t>60%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ED9C8A1-97E0-7FDF-125D-3E75E96612B7}"/>
                </a:ext>
              </a:extLst>
            </p:cNvPr>
            <p:cNvSpPr txBox="1"/>
            <p:nvPr/>
          </p:nvSpPr>
          <p:spPr>
            <a:xfrm>
              <a:off x="9724029" y="1694237"/>
              <a:ext cx="1869743" cy="646331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Mada" pitchFamily="2"/>
                </a:rPr>
                <a:t>Reduce documentation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179E400-4328-6A23-8ACA-CBCFF269CA12}"/>
              </a:ext>
            </a:extLst>
          </p:cNvPr>
          <p:cNvGrpSpPr/>
          <p:nvPr/>
        </p:nvGrpSpPr>
        <p:grpSpPr>
          <a:xfrm>
            <a:off x="9724029" y="3429000"/>
            <a:ext cx="1869743" cy="1873155"/>
            <a:chOff x="9724029" y="3429000"/>
            <a:chExt cx="1869743" cy="1873155"/>
          </a:xfrm>
          <a:solidFill>
            <a:srgbClr val="FFC000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648A73D-A3C7-FAF7-1D13-7953254BE0EE}"/>
                </a:ext>
              </a:extLst>
            </p:cNvPr>
            <p:cNvSpPr/>
            <p:nvPr/>
          </p:nvSpPr>
          <p:spPr>
            <a:xfrm>
              <a:off x="9724029" y="3429000"/>
              <a:ext cx="1869743" cy="187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EC11022-D4F1-9543-6BCB-7B63FB0A384E}"/>
                </a:ext>
              </a:extLst>
            </p:cNvPr>
            <p:cNvSpPr txBox="1"/>
            <p:nvPr/>
          </p:nvSpPr>
          <p:spPr>
            <a:xfrm>
              <a:off x="9724029" y="3625895"/>
              <a:ext cx="1813919" cy="1107996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n-US" sz="6600" b="1" dirty="0">
                  <a:latin typeface="Mada" pitchFamily="2"/>
                </a:rPr>
                <a:t>02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CC890C0-DAC0-231F-94AE-5D496605BD71}"/>
                </a:ext>
              </a:extLst>
            </p:cNvPr>
            <p:cNvSpPr txBox="1"/>
            <p:nvPr/>
          </p:nvSpPr>
          <p:spPr>
            <a:xfrm>
              <a:off x="9724029" y="4517432"/>
              <a:ext cx="1869743" cy="646331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Mada" pitchFamily="2"/>
                </a:rPr>
                <a:t>Hours Saved Daily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8169333-694B-BA2F-650C-807B82BE9480}"/>
              </a:ext>
            </a:extLst>
          </p:cNvPr>
          <p:cNvGrpSpPr/>
          <p:nvPr/>
        </p:nvGrpSpPr>
        <p:grpSpPr>
          <a:xfrm>
            <a:off x="598227" y="712760"/>
            <a:ext cx="2718181" cy="4559540"/>
            <a:chOff x="598227" y="712760"/>
            <a:chExt cx="2718181" cy="455954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14396A4-3F77-400D-B41C-3B80C828A08B}"/>
                </a:ext>
              </a:extLst>
            </p:cNvPr>
            <p:cNvSpPr/>
            <p:nvPr/>
          </p:nvSpPr>
          <p:spPr>
            <a:xfrm>
              <a:off x="598227" y="712760"/>
              <a:ext cx="2718181" cy="4559540"/>
            </a:xfrm>
            <a:prstGeom prst="rect">
              <a:avLst/>
            </a:prstGeom>
            <a:solidFill>
              <a:srgbClr val="FFC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CC43BB2-2B40-F74F-E843-5B5A4B2E479E}"/>
                </a:ext>
              </a:extLst>
            </p:cNvPr>
            <p:cNvSpPr txBox="1"/>
            <p:nvPr/>
          </p:nvSpPr>
          <p:spPr>
            <a:xfrm>
              <a:off x="598227" y="901878"/>
              <a:ext cx="271818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/>
                <a:t>Slashing Timelines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232EEDD-BA0F-467D-3C95-C7CC118DA6EE}"/>
                </a:ext>
              </a:extLst>
            </p:cNvPr>
            <p:cNvSpPr txBox="1"/>
            <p:nvPr/>
          </p:nvSpPr>
          <p:spPr>
            <a:xfrm>
              <a:off x="598227" y="1363543"/>
              <a:ext cx="2718181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800" b="1" dirty="0"/>
                <a:t>50% -70%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E1256EA-260D-2F0D-8627-306E2FF8ECCB}"/>
                </a:ext>
              </a:extLst>
            </p:cNvPr>
            <p:cNvSpPr txBox="1"/>
            <p:nvPr/>
          </p:nvSpPr>
          <p:spPr>
            <a:xfrm>
              <a:off x="790832" y="2240706"/>
              <a:ext cx="2347784" cy="26776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/>
                <a:t>Traditional drug discovery takes 10-15 years and costs an average of $2.6 billion per successful drug.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0284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848D72-95B7-8DEB-F9BD-942D348A2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71419564-BEC4-CAA7-905F-1EDDFA314EF4}"/>
              </a:ext>
            </a:extLst>
          </p:cNvPr>
          <p:cNvSpPr/>
          <p:nvPr/>
        </p:nvSpPr>
        <p:spPr>
          <a:xfrm>
            <a:off x="1586889" y="818409"/>
            <a:ext cx="864387" cy="46924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50640D6-7EFB-E303-EEC4-752E84B4D384}"/>
              </a:ext>
            </a:extLst>
          </p:cNvPr>
          <p:cNvSpPr/>
          <p:nvPr/>
        </p:nvSpPr>
        <p:spPr>
          <a:xfrm>
            <a:off x="1513855" y="789177"/>
            <a:ext cx="396712" cy="215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6E0F239-9944-3D30-DDEE-0C92DE189EC5}"/>
              </a:ext>
            </a:extLst>
          </p:cNvPr>
          <p:cNvSpPr/>
          <p:nvPr/>
        </p:nvSpPr>
        <p:spPr>
          <a:xfrm>
            <a:off x="1464026" y="693277"/>
            <a:ext cx="396712" cy="2153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4A806B-B4C4-EA93-F88F-6148910B1660}"/>
              </a:ext>
            </a:extLst>
          </p:cNvPr>
          <p:cNvSpPr txBox="1"/>
          <p:nvPr/>
        </p:nvSpPr>
        <p:spPr>
          <a:xfrm>
            <a:off x="2524310" y="803116"/>
            <a:ext cx="4019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ada Black" pitchFamily="2"/>
              </a:rPr>
              <a:t>Tomorrow Medicine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720E18-5780-2C07-5F7F-279B28A1CD51}"/>
              </a:ext>
            </a:extLst>
          </p:cNvPr>
          <p:cNvSpPr/>
          <p:nvPr/>
        </p:nvSpPr>
        <p:spPr>
          <a:xfrm flipH="1">
            <a:off x="8253453" y="348933"/>
            <a:ext cx="5728633" cy="6003924"/>
          </a:xfrm>
          <a:prstGeom prst="rect">
            <a:avLst/>
          </a:prstGeom>
          <a:blipFill dpi="0" rotWithShape="0">
            <a:blip r:embed="rId3"/>
            <a:srcRect/>
            <a:stretch>
              <a:fillRect l="-46645" r="-1040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DB2663-3BC7-1B89-6EE2-FA51A26C5688}"/>
              </a:ext>
            </a:extLst>
          </p:cNvPr>
          <p:cNvSpPr/>
          <p:nvPr/>
        </p:nvSpPr>
        <p:spPr>
          <a:xfrm>
            <a:off x="-10300648" y="-133350"/>
            <a:ext cx="10300648" cy="33718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067341-033D-7EDC-4A9D-9BFF60E8FCB7}"/>
              </a:ext>
            </a:extLst>
          </p:cNvPr>
          <p:cNvSpPr/>
          <p:nvPr/>
        </p:nvSpPr>
        <p:spPr>
          <a:xfrm>
            <a:off x="-12377098" y="3238500"/>
            <a:ext cx="10300648" cy="3619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92C2F6-AFA4-5054-200D-92408E5DFC85}"/>
              </a:ext>
            </a:extLst>
          </p:cNvPr>
          <p:cNvSpPr txBox="1"/>
          <p:nvPr/>
        </p:nvSpPr>
        <p:spPr>
          <a:xfrm>
            <a:off x="1369517" y="1552575"/>
            <a:ext cx="5669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Mada" pitchFamily="2"/>
              </a:rPr>
              <a:t>AI is rapidly moving from a futuristic concept to a practical tool in healthcare, and its impact is set to accelerate significantly.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A18989-8A7B-8509-71BE-691ABC0B2C6E}"/>
              </a:ext>
            </a:extLst>
          </p:cNvPr>
          <p:cNvSpPr txBox="1"/>
          <p:nvPr/>
        </p:nvSpPr>
        <p:spPr>
          <a:xfrm>
            <a:off x="1369517" y="3429000"/>
            <a:ext cx="5669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Mada" pitchFamily="2"/>
              </a:rPr>
              <a:t>"Tomorrow's" medicine will see AI deeply integrated into three core areas: diagnostics, treatment, and administration.</a:t>
            </a:r>
          </a:p>
        </p:txBody>
      </p:sp>
    </p:spTree>
    <p:extLst>
      <p:ext uri="{BB962C8B-B14F-4D97-AF65-F5344CB8AC3E}">
        <p14:creationId xmlns:p14="http://schemas.microsoft.com/office/powerpoint/2010/main" val="35158689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CEADE7D4-B4F7-4623-CBE6-52E918F29B1E}"/>
              </a:ext>
            </a:extLst>
          </p:cNvPr>
          <p:cNvGrpSpPr/>
          <p:nvPr/>
        </p:nvGrpSpPr>
        <p:grpSpPr>
          <a:xfrm>
            <a:off x="598227" y="712760"/>
            <a:ext cx="8259170" cy="4559540"/>
            <a:chOff x="598227" y="712760"/>
            <a:chExt cx="8259170" cy="455954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14396A4-3F77-400D-B41C-3B80C828A08B}"/>
                </a:ext>
              </a:extLst>
            </p:cNvPr>
            <p:cNvSpPr/>
            <p:nvPr/>
          </p:nvSpPr>
          <p:spPr>
            <a:xfrm>
              <a:off x="598227" y="712760"/>
              <a:ext cx="8259170" cy="455954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0EF20B7-0FA4-C253-EC4D-C597D60A0BF1}"/>
                </a:ext>
              </a:extLst>
            </p:cNvPr>
            <p:cNvSpPr txBox="1"/>
            <p:nvPr/>
          </p:nvSpPr>
          <p:spPr>
            <a:xfrm>
              <a:off x="923403" y="915038"/>
              <a:ext cx="7374913" cy="4154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Mada" pitchFamily="2"/>
                </a:rPr>
                <a:t>Earlier Disease Detection: </a:t>
              </a:r>
              <a:r>
                <a:rPr lang="en-US" sz="2400" dirty="0">
                  <a:latin typeface="Mada" pitchFamily="2"/>
                </a:rPr>
                <a:t>Spotting early-stage cancers, diabetic retinopathy, or neurological disorders far sooner than previously possible.</a:t>
              </a:r>
            </a:p>
            <a:p>
              <a:endParaRPr lang="en-US" sz="2400" dirty="0">
                <a:latin typeface="Mada" pitchFamily="2"/>
              </a:endParaRPr>
            </a:p>
            <a:p>
              <a:r>
                <a:rPr lang="en-US" sz="2400" b="1" dirty="0">
                  <a:latin typeface="Mada" pitchFamily="2"/>
                </a:rPr>
                <a:t>Increased Accuracy: </a:t>
              </a:r>
              <a:r>
                <a:rPr lang="en-US" sz="2400" dirty="0">
                  <a:latin typeface="Mada" pitchFamily="2"/>
                </a:rPr>
                <a:t>In fields like pathology, AI can analyze tissue samples to help grade tumors, reducing human error and variability.</a:t>
              </a:r>
            </a:p>
            <a:p>
              <a:endParaRPr lang="en-US" sz="2400" dirty="0">
                <a:latin typeface="Mada" pitchFamily="2"/>
              </a:endParaRPr>
            </a:p>
            <a:p>
              <a:r>
                <a:rPr lang="en-US" sz="2400" b="1" dirty="0">
                  <a:latin typeface="Mada" pitchFamily="2"/>
                </a:rPr>
                <a:t>Speed: </a:t>
              </a:r>
              <a:r>
                <a:rPr lang="en-US" sz="2400" dirty="0">
                  <a:latin typeface="Mada" pitchFamily="2"/>
                </a:rPr>
                <a:t>AI algorithms can analyze and flag urgent cases in a fraction of the time, helping to prioritize patients in busy emergency rooms.</a:t>
              </a: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D3DCAAA8-72A9-3166-818B-BB57809DBE4C}"/>
              </a:ext>
            </a:extLst>
          </p:cNvPr>
          <p:cNvSpPr/>
          <p:nvPr/>
        </p:nvSpPr>
        <p:spPr>
          <a:xfrm>
            <a:off x="6953368" y="5958225"/>
            <a:ext cx="864387" cy="46924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0C38A7-C440-4059-8837-2CAC3483C908}"/>
              </a:ext>
            </a:extLst>
          </p:cNvPr>
          <p:cNvSpPr/>
          <p:nvPr/>
        </p:nvSpPr>
        <p:spPr>
          <a:xfrm>
            <a:off x="6880334" y="5928993"/>
            <a:ext cx="396712" cy="215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DA1B69-CF58-2CB6-743C-8E9ECCB84DBE}"/>
              </a:ext>
            </a:extLst>
          </p:cNvPr>
          <p:cNvSpPr/>
          <p:nvPr/>
        </p:nvSpPr>
        <p:spPr>
          <a:xfrm>
            <a:off x="6830505" y="5833093"/>
            <a:ext cx="396712" cy="2153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CDDF47-E5D6-184D-FC64-9A6AFB72970E}"/>
              </a:ext>
            </a:extLst>
          </p:cNvPr>
          <p:cNvSpPr txBox="1"/>
          <p:nvPr/>
        </p:nvSpPr>
        <p:spPr>
          <a:xfrm>
            <a:off x="7890789" y="5942932"/>
            <a:ext cx="4019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ada Black" pitchFamily="2"/>
              </a:rPr>
              <a:t>Tomorrow Medicine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239355-1C28-276B-0E4F-9AEDB186BDE2}"/>
              </a:ext>
            </a:extLst>
          </p:cNvPr>
          <p:cNvGrpSpPr/>
          <p:nvPr/>
        </p:nvGrpSpPr>
        <p:grpSpPr>
          <a:xfrm>
            <a:off x="9724029" y="675564"/>
            <a:ext cx="1869744" cy="1820269"/>
            <a:chOff x="9724029" y="675564"/>
            <a:chExt cx="1869744" cy="182026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E112B28-D86E-47D2-AA24-222E569780A2}"/>
                </a:ext>
              </a:extLst>
            </p:cNvPr>
            <p:cNvSpPr/>
            <p:nvPr/>
          </p:nvSpPr>
          <p:spPr>
            <a:xfrm>
              <a:off x="9724030" y="675564"/>
              <a:ext cx="1869743" cy="1820269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521D605-FF00-8276-B3E0-C1506C59ED17}"/>
                </a:ext>
              </a:extLst>
            </p:cNvPr>
            <p:cNvSpPr txBox="1"/>
            <p:nvPr/>
          </p:nvSpPr>
          <p:spPr>
            <a:xfrm>
              <a:off x="9724029" y="802700"/>
              <a:ext cx="181391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6600" b="1" dirty="0">
                  <a:latin typeface="Mada" pitchFamily="2"/>
                </a:rPr>
                <a:t>60%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1F96269-25DA-8E76-AA5F-4A0D99CB94AD}"/>
                </a:ext>
              </a:extLst>
            </p:cNvPr>
            <p:cNvSpPr txBox="1"/>
            <p:nvPr/>
          </p:nvSpPr>
          <p:spPr>
            <a:xfrm>
              <a:off x="9724029" y="1694237"/>
              <a:ext cx="186974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Mada" pitchFamily="2"/>
                </a:rPr>
                <a:t>Reduce documentation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7F524C2-1B93-E710-6359-E6165A9925E0}"/>
              </a:ext>
            </a:extLst>
          </p:cNvPr>
          <p:cNvGrpSpPr/>
          <p:nvPr/>
        </p:nvGrpSpPr>
        <p:grpSpPr>
          <a:xfrm>
            <a:off x="9724029" y="3429000"/>
            <a:ext cx="1869743" cy="1873155"/>
            <a:chOff x="9724029" y="3429000"/>
            <a:chExt cx="1869743" cy="187315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36686A2-99CA-4815-907C-B716EC1405C8}"/>
                </a:ext>
              </a:extLst>
            </p:cNvPr>
            <p:cNvSpPr/>
            <p:nvPr/>
          </p:nvSpPr>
          <p:spPr>
            <a:xfrm>
              <a:off x="9724029" y="3429000"/>
              <a:ext cx="1869743" cy="187315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FD3F3CB-CD82-A713-176C-AD718E5E6036}"/>
                </a:ext>
              </a:extLst>
            </p:cNvPr>
            <p:cNvSpPr txBox="1"/>
            <p:nvPr/>
          </p:nvSpPr>
          <p:spPr>
            <a:xfrm>
              <a:off x="9724029" y="3625895"/>
              <a:ext cx="181391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6600" b="1" dirty="0">
                  <a:latin typeface="Mada" pitchFamily="2"/>
                </a:rPr>
                <a:t>02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780FD42-063D-8FB7-6C00-D93F58E564D0}"/>
                </a:ext>
              </a:extLst>
            </p:cNvPr>
            <p:cNvSpPr txBox="1"/>
            <p:nvPr/>
          </p:nvSpPr>
          <p:spPr>
            <a:xfrm>
              <a:off x="9724029" y="4517432"/>
              <a:ext cx="186974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Mada" pitchFamily="2"/>
                </a:rPr>
                <a:t>Hours Saved Daily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70854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06959B-4D6B-88D1-FCA4-C4391A9BA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3C1FDD7B-AF7D-8315-1B91-7DC86BEAA8EC}"/>
              </a:ext>
            </a:extLst>
          </p:cNvPr>
          <p:cNvSpPr/>
          <p:nvPr/>
        </p:nvSpPr>
        <p:spPr>
          <a:xfrm>
            <a:off x="1586889" y="818409"/>
            <a:ext cx="864387" cy="46924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323866D-7076-9B12-C6E6-EF35C4CFD269}"/>
              </a:ext>
            </a:extLst>
          </p:cNvPr>
          <p:cNvSpPr/>
          <p:nvPr/>
        </p:nvSpPr>
        <p:spPr>
          <a:xfrm>
            <a:off x="1513855" y="789177"/>
            <a:ext cx="396712" cy="215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E073687-D025-897F-64E1-C51B94DC51FC}"/>
              </a:ext>
            </a:extLst>
          </p:cNvPr>
          <p:cNvSpPr/>
          <p:nvPr/>
        </p:nvSpPr>
        <p:spPr>
          <a:xfrm>
            <a:off x="1464026" y="693277"/>
            <a:ext cx="396712" cy="2153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AFDB9F1-EDCF-40FE-DF2D-69657785EC26}"/>
              </a:ext>
            </a:extLst>
          </p:cNvPr>
          <p:cNvSpPr txBox="1"/>
          <p:nvPr/>
        </p:nvSpPr>
        <p:spPr>
          <a:xfrm>
            <a:off x="2524310" y="803116"/>
            <a:ext cx="4019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ada Black" pitchFamily="2"/>
              </a:rPr>
              <a:t>Tomorrow Medicine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074DBF-BD4C-1DED-D2B0-85FDA269A3F5}"/>
              </a:ext>
            </a:extLst>
          </p:cNvPr>
          <p:cNvSpPr/>
          <p:nvPr/>
        </p:nvSpPr>
        <p:spPr>
          <a:xfrm flipH="1">
            <a:off x="8253453" y="348933"/>
            <a:ext cx="5728633" cy="6003924"/>
          </a:xfrm>
          <a:prstGeom prst="rect">
            <a:avLst/>
          </a:prstGeom>
          <a:blipFill dpi="0" rotWithShape="0">
            <a:blip r:embed="rId3"/>
            <a:srcRect/>
            <a:stretch>
              <a:fillRect l="-46645" r="-1040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050AB4-D209-5EC3-988D-1F0874F301F7}"/>
              </a:ext>
            </a:extLst>
          </p:cNvPr>
          <p:cNvSpPr/>
          <p:nvPr/>
        </p:nvSpPr>
        <p:spPr>
          <a:xfrm>
            <a:off x="-10300648" y="-133350"/>
            <a:ext cx="10300648" cy="33718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F2C15F-49A9-04BC-7195-0C53F2AF7084}"/>
              </a:ext>
            </a:extLst>
          </p:cNvPr>
          <p:cNvSpPr/>
          <p:nvPr/>
        </p:nvSpPr>
        <p:spPr>
          <a:xfrm>
            <a:off x="-12377098" y="3238500"/>
            <a:ext cx="10300648" cy="3619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BF34AF-8A8C-FDEC-9053-35DF5BFE02CB}"/>
              </a:ext>
            </a:extLst>
          </p:cNvPr>
          <p:cNvSpPr txBox="1"/>
          <p:nvPr/>
        </p:nvSpPr>
        <p:spPr>
          <a:xfrm>
            <a:off x="1369517" y="1552575"/>
            <a:ext cx="5669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Mada" pitchFamily="2"/>
              </a:rPr>
              <a:t>AI is rapidly moving from a futuristic concept to a practical tool in healthcare, and its impact is set to accelerate significantly.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59FBE8-7809-9FDF-91B3-26CFF1158465}"/>
              </a:ext>
            </a:extLst>
          </p:cNvPr>
          <p:cNvSpPr txBox="1"/>
          <p:nvPr/>
        </p:nvSpPr>
        <p:spPr>
          <a:xfrm>
            <a:off x="1369517" y="3429000"/>
            <a:ext cx="5669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Mada" pitchFamily="2"/>
              </a:rPr>
              <a:t>"Tomorrow's" medicine will see AI deeply integrated into three core areas: diagnostics, treatment, and administration.</a:t>
            </a:r>
          </a:p>
        </p:txBody>
      </p:sp>
    </p:spTree>
    <p:extLst>
      <p:ext uri="{BB962C8B-B14F-4D97-AF65-F5344CB8AC3E}">
        <p14:creationId xmlns:p14="http://schemas.microsoft.com/office/powerpoint/2010/main" val="5996962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83D53D-7B85-7D95-D064-9FA6DC7FE287}"/>
              </a:ext>
            </a:extLst>
          </p:cNvPr>
          <p:cNvSpPr/>
          <p:nvPr/>
        </p:nvSpPr>
        <p:spPr>
          <a:xfrm>
            <a:off x="6953368" y="5958225"/>
            <a:ext cx="864387" cy="46924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6A481B-A58E-114D-11C9-0964507479E7}"/>
              </a:ext>
            </a:extLst>
          </p:cNvPr>
          <p:cNvSpPr/>
          <p:nvPr/>
        </p:nvSpPr>
        <p:spPr>
          <a:xfrm>
            <a:off x="6880334" y="5928993"/>
            <a:ext cx="396712" cy="215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FF904B-E5A3-26C0-97A4-84A38D9BE10A}"/>
              </a:ext>
            </a:extLst>
          </p:cNvPr>
          <p:cNvSpPr/>
          <p:nvPr/>
        </p:nvSpPr>
        <p:spPr>
          <a:xfrm>
            <a:off x="6830505" y="5833093"/>
            <a:ext cx="396712" cy="2153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60DF4A-E160-CFDE-369E-68AD5439AC5E}"/>
              </a:ext>
            </a:extLst>
          </p:cNvPr>
          <p:cNvSpPr txBox="1"/>
          <p:nvPr/>
        </p:nvSpPr>
        <p:spPr>
          <a:xfrm>
            <a:off x="7890789" y="5942932"/>
            <a:ext cx="4019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ada Black" pitchFamily="2"/>
              </a:rPr>
              <a:t>Tomorrow Medicine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74544F3-8F58-8470-080C-0BD24FD63D27}"/>
              </a:ext>
            </a:extLst>
          </p:cNvPr>
          <p:cNvGrpSpPr/>
          <p:nvPr/>
        </p:nvGrpSpPr>
        <p:grpSpPr>
          <a:xfrm>
            <a:off x="6987654" y="675564"/>
            <a:ext cx="1869743" cy="1873155"/>
            <a:chOff x="6987654" y="675564"/>
            <a:chExt cx="1869743" cy="187315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36686A2-99CA-4815-907C-B716EC1405C8}"/>
                </a:ext>
              </a:extLst>
            </p:cNvPr>
            <p:cNvSpPr/>
            <p:nvPr/>
          </p:nvSpPr>
          <p:spPr>
            <a:xfrm>
              <a:off x="6987654" y="675564"/>
              <a:ext cx="1869743" cy="187315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4A0246C-FA88-B3CF-7F54-EB2E01CCF679}"/>
                </a:ext>
              </a:extLst>
            </p:cNvPr>
            <p:cNvSpPr txBox="1"/>
            <p:nvPr/>
          </p:nvSpPr>
          <p:spPr>
            <a:xfrm>
              <a:off x="6987654" y="713645"/>
              <a:ext cx="1869743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latin typeface="Mada" pitchFamily="2"/>
                </a:rPr>
                <a:t>94%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A7C7C1A-205C-0658-6BD1-D6BEDBFAA7A3}"/>
                </a:ext>
              </a:extLst>
            </p:cNvPr>
            <p:cNvSpPr txBox="1"/>
            <p:nvPr/>
          </p:nvSpPr>
          <p:spPr>
            <a:xfrm>
              <a:off x="6987654" y="1746421"/>
              <a:ext cx="18380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ada" pitchFamily="2"/>
                </a:rPr>
                <a:t>Lung Cancer</a:t>
              </a:r>
            </a:p>
            <a:p>
              <a:pPr algn="ctr"/>
              <a:r>
                <a:rPr lang="en-US" b="1" dirty="0">
                  <a:latin typeface="Mada" pitchFamily="2"/>
                </a:rPr>
                <a:t>Detection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9E0D38C-CC6F-1262-6A58-3A08E19667DA}"/>
              </a:ext>
            </a:extLst>
          </p:cNvPr>
          <p:cNvGrpSpPr/>
          <p:nvPr/>
        </p:nvGrpSpPr>
        <p:grpSpPr>
          <a:xfrm>
            <a:off x="9717314" y="675564"/>
            <a:ext cx="1876459" cy="1820269"/>
            <a:chOff x="9717314" y="675564"/>
            <a:chExt cx="1876459" cy="182026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E112B28-D86E-47D2-AA24-222E569780A2}"/>
                </a:ext>
              </a:extLst>
            </p:cNvPr>
            <p:cNvSpPr/>
            <p:nvPr/>
          </p:nvSpPr>
          <p:spPr>
            <a:xfrm>
              <a:off x="9724030" y="675564"/>
              <a:ext cx="1869743" cy="1820269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3739AA2-7EFE-BFF2-2780-A943A98B2CBB}"/>
                </a:ext>
              </a:extLst>
            </p:cNvPr>
            <p:cNvSpPr txBox="1"/>
            <p:nvPr/>
          </p:nvSpPr>
          <p:spPr>
            <a:xfrm>
              <a:off x="9717314" y="713645"/>
              <a:ext cx="1869743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latin typeface="Mada" pitchFamily="2"/>
                </a:rPr>
                <a:t>90%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F24A441-D2CD-C487-C9B0-52569BA2E8D8}"/>
                </a:ext>
              </a:extLst>
            </p:cNvPr>
            <p:cNvSpPr txBox="1"/>
            <p:nvPr/>
          </p:nvSpPr>
          <p:spPr>
            <a:xfrm>
              <a:off x="9717314" y="1746421"/>
              <a:ext cx="18380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ada" pitchFamily="2"/>
                </a:rPr>
                <a:t>Breast Cancer</a:t>
              </a:r>
            </a:p>
            <a:p>
              <a:pPr algn="ctr"/>
              <a:r>
                <a:rPr lang="en-US" b="1" dirty="0">
                  <a:latin typeface="Mada" pitchFamily="2"/>
                </a:rPr>
                <a:t>Detection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EBA55F1-5E10-2DF8-E0CD-DE248CA2BCF7}"/>
              </a:ext>
            </a:extLst>
          </p:cNvPr>
          <p:cNvGrpSpPr/>
          <p:nvPr/>
        </p:nvGrpSpPr>
        <p:grpSpPr>
          <a:xfrm>
            <a:off x="598228" y="675563"/>
            <a:ext cx="5504487" cy="1873156"/>
            <a:chOff x="598228" y="675563"/>
            <a:chExt cx="5504487" cy="187315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73BE3D7-61E0-49C9-BF3F-06F195348BD7}"/>
                </a:ext>
              </a:extLst>
            </p:cNvPr>
            <p:cNvSpPr/>
            <p:nvPr/>
          </p:nvSpPr>
          <p:spPr>
            <a:xfrm>
              <a:off x="598228" y="675564"/>
              <a:ext cx="5497772" cy="1873155"/>
            </a:xfrm>
            <a:prstGeom prst="rect">
              <a:avLst/>
            </a:prstGeom>
            <a:blipFill dpi="0" rotWithShape="1">
              <a:blip r:embed="rId3"/>
              <a:srcRect/>
              <a:tile tx="-1212850" ty="-1377950" sx="68000" sy="6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6F625F5-8650-D3C8-F19B-3ED557AD43AA}"/>
                </a:ext>
              </a:extLst>
            </p:cNvPr>
            <p:cNvSpPr/>
            <p:nvPr/>
          </p:nvSpPr>
          <p:spPr>
            <a:xfrm>
              <a:off x="604943" y="675563"/>
              <a:ext cx="5497772" cy="1873155"/>
            </a:xfrm>
            <a:prstGeom prst="rect">
              <a:avLst/>
            </a:prstGeom>
            <a:gradFill flip="none" rotWithShape="1">
              <a:gsLst>
                <a:gs pos="43000">
                  <a:srgbClr val="00B0F0"/>
                </a:gs>
                <a:gs pos="77000">
                  <a:srgbClr val="00B0F0">
                    <a:alpha val="54000"/>
                  </a:srgbClr>
                </a:gs>
                <a:gs pos="91000">
                  <a:srgbClr val="00B0F0">
                    <a:alpha val="28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7CCB4BB-AB8D-8EB2-F9FB-D77962D80100}"/>
                </a:ext>
              </a:extLst>
            </p:cNvPr>
            <p:cNvSpPr txBox="1"/>
            <p:nvPr/>
          </p:nvSpPr>
          <p:spPr>
            <a:xfrm>
              <a:off x="3772930" y="874200"/>
              <a:ext cx="2276496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latin typeface="Mada" pitchFamily="2"/>
                </a:rPr>
                <a:t>AI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2EEE3B4-ABEC-B301-F464-6421C83F31A6}"/>
                </a:ext>
              </a:extLst>
            </p:cNvPr>
            <p:cNvSpPr txBox="1"/>
            <p:nvPr/>
          </p:nvSpPr>
          <p:spPr>
            <a:xfrm>
              <a:off x="3772930" y="1756636"/>
              <a:ext cx="22764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atin typeface="Mada" pitchFamily="2"/>
                </a:rPr>
                <a:t>Accelerates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FDF9F45-A9BD-1303-D968-09FB045FF4E4}"/>
              </a:ext>
            </a:extLst>
          </p:cNvPr>
          <p:cNvGrpSpPr/>
          <p:nvPr/>
        </p:nvGrpSpPr>
        <p:grpSpPr>
          <a:xfrm>
            <a:off x="598227" y="2932564"/>
            <a:ext cx="10995546" cy="2753436"/>
            <a:chOff x="598227" y="2932564"/>
            <a:chExt cx="10995546" cy="275343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14396A4-3F77-400D-B41C-3B80C828A08B}"/>
                </a:ext>
              </a:extLst>
            </p:cNvPr>
            <p:cNvSpPr/>
            <p:nvPr/>
          </p:nvSpPr>
          <p:spPr>
            <a:xfrm>
              <a:off x="598227" y="2932564"/>
              <a:ext cx="10995546" cy="275343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E414578-4590-5C66-0653-C2E47C59F97B}"/>
                </a:ext>
              </a:extLst>
            </p:cNvPr>
            <p:cNvSpPr txBox="1"/>
            <p:nvPr/>
          </p:nvSpPr>
          <p:spPr>
            <a:xfrm>
              <a:off x="1524000" y="3459976"/>
              <a:ext cx="9424086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atin typeface="Mada" pitchFamily="2"/>
                </a:rPr>
                <a:t>AI is becoming a crucial partner for doctors, especially in analyzing medical images. Machine learning models, trained on millions of scans, can now detect subtle patterns in X-rays, CT scans, and MRIs that a human eye might miss.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356493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C05443-03E1-4B63-BE50-3638630E23B3}"/>
              </a:ext>
            </a:extLst>
          </p:cNvPr>
          <p:cNvSpPr/>
          <p:nvPr/>
        </p:nvSpPr>
        <p:spPr>
          <a:xfrm>
            <a:off x="12420600" y="-133350"/>
            <a:ext cx="10300648" cy="33718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72E9E1-D369-4B12-B582-42F7FC9B5210}"/>
              </a:ext>
            </a:extLst>
          </p:cNvPr>
          <p:cNvSpPr/>
          <p:nvPr/>
        </p:nvSpPr>
        <p:spPr>
          <a:xfrm>
            <a:off x="12192000" y="3238500"/>
            <a:ext cx="10300648" cy="3619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FDBAAE-23C8-4559-918E-BCE15662495B}"/>
              </a:ext>
            </a:extLst>
          </p:cNvPr>
          <p:cNvSpPr/>
          <p:nvPr/>
        </p:nvSpPr>
        <p:spPr>
          <a:xfrm>
            <a:off x="1491856" y="688671"/>
            <a:ext cx="8258175" cy="448309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4384F2-3B9E-4F09-A563-EE52B9CD1262}"/>
              </a:ext>
            </a:extLst>
          </p:cNvPr>
          <p:cNvSpPr/>
          <p:nvPr/>
        </p:nvSpPr>
        <p:spPr>
          <a:xfrm>
            <a:off x="1398070" y="4985631"/>
            <a:ext cx="864387" cy="46924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EF8271-7944-49AF-AB3E-5C9539AA02AD}"/>
              </a:ext>
            </a:extLst>
          </p:cNvPr>
          <p:cNvSpPr/>
          <p:nvPr/>
        </p:nvSpPr>
        <p:spPr>
          <a:xfrm>
            <a:off x="1325036" y="4956399"/>
            <a:ext cx="396712" cy="215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67B0BD-D0E4-429D-B8CB-C70EB037E618}"/>
              </a:ext>
            </a:extLst>
          </p:cNvPr>
          <p:cNvSpPr/>
          <p:nvPr/>
        </p:nvSpPr>
        <p:spPr>
          <a:xfrm>
            <a:off x="1275207" y="4860499"/>
            <a:ext cx="396712" cy="2153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91C762-F403-327E-42C8-25A14110DFBE}"/>
              </a:ext>
            </a:extLst>
          </p:cNvPr>
          <p:cNvSpPr txBox="1"/>
          <p:nvPr/>
        </p:nvSpPr>
        <p:spPr>
          <a:xfrm>
            <a:off x="7760874" y="5338332"/>
            <a:ext cx="43249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B0F0"/>
                </a:solidFill>
                <a:latin typeface="Mada Black" pitchFamily="2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3710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7366</TotalTime>
  <Words>409</Words>
  <Application>Microsoft Office PowerPoint</Application>
  <PresentationFormat>Widescreen</PresentationFormat>
  <Paragraphs>58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Mada</vt:lpstr>
      <vt:lpstr>Mada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Brian Nyawira</dc:creator>
  <cp:lastModifiedBy>Brian Maina</cp:lastModifiedBy>
  <cp:revision>14</cp:revision>
  <dcterms:created xsi:type="dcterms:W3CDTF">2024-01-16T08:51:20Z</dcterms:created>
  <dcterms:modified xsi:type="dcterms:W3CDTF">2025-10-29T15:16:48Z</dcterms:modified>
</cp:coreProperties>
</file>